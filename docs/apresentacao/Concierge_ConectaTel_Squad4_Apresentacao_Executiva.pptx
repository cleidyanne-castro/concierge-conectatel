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e120f51004adc" /><Relationship Type="http://schemas.openxmlformats.org/officeDocument/2006/relationships/extended-properties" Target="/docProps/app.xml" Id="Raf15a56ae59e4c55" /><Relationship Type="http://schemas.openxmlformats.org/officeDocument/2006/relationships/officeDocument" Target="/ppt/presentation.xml" Id="Rf0930c0cbc8243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2df0441574f69"/>
  </p:sldMasterIdLst>
  <p:notesMasterIdLst>
    <p:notesMasterId xmlns:r="http://schemas.openxmlformats.org/officeDocument/2006/relationships" r:id="Rd26268d57201445f"/>
  </p:notesMasterIdLst>
  <p:sldIdLst>
    <p:sldId xmlns:r="http://schemas.openxmlformats.org/officeDocument/2006/relationships" id="256" r:id="R665974bcc0b94eff"/>
    <p:sldId xmlns:r="http://schemas.openxmlformats.org/officeDocument/2006/relationships" id="257" r:id="R0cec1a25138240f7"/>
    <p:sldId xmlns:r="http://schemas.openxmlformats.org/officeDocument/2006/relationships" id="258" r:id="Rfd769a74532a48ae"/>
    <p:sldId xmlns:r="http://schemas.openxmlformats.org/officeDocument/2006/relationships" id="259" r:id="R84f141d9a45048a1"/>
    <p:sldId xmlns:r="http://schemas.openxmlformats.org/officeDocument/2006/relationships" id="260" r:id="R616ef98749c0491f"/>
    <p:sldId xmlns:r="http://schemas.openxmlformats.org/officeDocument/2006/relationships" id="261" r:id="Ree2149bdb2fd4728"/>
    <p:sldId xmlns:r="http://schemas.openxmlformats.org/officeDocument/2006/relationships" id="262" r:id="Re058b4ae187f4cce"/>
    <p:sldId xmlns:r="http://schemas.openxmlformats.org/officeDocument/2006/relationships" id="263" r:id="Rda65ad1b102d472d"/>
    <p:sldId xmlns:r="http://schemas.openxmlformats.org/officeDocument/2006/relationships" id="264" r:id="Rb2632490d09b40c5"/>
    <p:sldId xmlns:r="http://schemas.openxmlformats.org/officeDocument/2006/relationships" id="265" r:id="Rc7f286ad6057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e03ff82c6c4902" /><Relationship Type="http://schemas.openxmlformats.org/officeDocument/2006/relationships/slideMaster" Target="/ppt/slideMasters/slideMaster1.xml" Id="Rdcd2df0441574f69" /><Relationship Type="http://schemas.openxmlformats.org/officeDocument/2006/relationships/notesMaster" Target="/ppt/notesMasters/notesMaster1.xml" Id="Rd26268d57201445f" /><Relationship Type="http://schemas.openxmlformats.org/officeDocument/2006/relationships/presProps" Target="/ppt/presProps.xml" Id="R2616fc4ec706403b" /><Relationship Type="http://schemas.openxmlformats.org/officeDocument/2006/relationships/tableStyles" Target="/ppt/tableStyles.xml" Id="R4e02802eb7f24571" /><Relationship Type="http://schemas.openxmlformats.org/officeDocument/2006/relationships/slide" Target="/ppt/slides/slide1.xml" Id="R665974bcc0b94eff" /><Relationship Type="http://schemas.openxmlformats.org/officeDocument/2006/relationships/slide" Target="/ppt/slides/slide2.xml" Id="R0cec1a25138240f7" /><Relationship Type="http://schemas.openxmlformats.org/officeDocument/2006/relationships/slide" Target="/ppt/slides/slide3.xml" Id="Rfd769a74532a48ae" /><Relationship Type="http://schemas.openxmlformats.org/officeDocument/2006/relationships/slide" Target="/ppt/slides/slide4.xml" Id="R84f141d9a45048a1" /><Relationship Type="http://schemas.openxmlformats.org/officeDocument/2006/relationships/slide" Target="/ppt/slides/slide5.xml" Id="R616ef98749c0491f" /><Relationship Type="http://schemas.openxmlformats.org/officeDocument/2006/relationships/slide" Target="/ppt/slides/slide6.xml" Id="Ree2149bdb2fd4728" /><Relationship Type="http://schemas.openxmlformats.org/officeDocument/2006/relationships/slide" Target="/ppt/slides/slide7.xml" Id="Re058b4ae187f4cce" /><Relationship Type="http://schemas.openxmlformats.org/officeDocument/2006/relationships/slide" Target="/ppt/slides/slide8.xml" Id="Rda65ad1b102d472d" /><Relationship Type="http://schemas.openxmlformats.org/officeDocument/2006/relationships/slide" Target="/ppt/slides/slide9.xml" Id="Rb2632490d09b40c5" /><Relationship Type="http://schemas.openxmlformats.org/officeDocument/2006/relationships/slide" Target="/ppt/slides/slide10.xml" Id="Rc7f286ad6057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400c7b0014b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6ff94f448e47c4" /><Relationship Type="http://schemas.openxmlformats.org/officeDocument/2006/relationships/notesMaster" Target="/ppt/notesMasters/notesMaster1.xml" Id="R800a43ba481447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5f6db7d0c64dd8" /><Relationship Type="http://schemas.openxmlformats.org/officeDocument/2006/relationships/notesMaster" Target="/ppt/notesMasters/notesMaster1.xml" Id="Rbf02d74b05cc48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b78c305ef48b0" /><Relationship Type="http://schemas.openxmlformats.org/officeDocument/2006/relationships/notesMaster" Target="/ppt/notesMasters/notesMaster1.xml" Id="R1bfd18d4e01640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04d592d2b242b8" /><Relationship Type="http://schemas.openxmlformats.org/officeDocument/2006/relationships/notesMaster" Target="/ppt/notesMasters/notesMaster1.xml" Id="R6340a2fb93a542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f5c6bf4ad94634" /><Relationship Type="http://schemas.openxmlformats.org/officeDocument/2006/relationships/notesMaster" Target="/ppt/notesMasters/notesMaster1.xml" Id="R7cb9c2afd3e74c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e4c9e4d5224fe9" /><Relationship Type="http://schemas.openxmlformats.org/officeDocument/2006/relationships/notesMaster" Target="/ppt/notesMasters/notesMaster1.xml" Id="Ra49fcd02e80340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973e3368574aef" /><Relationship Type="http://schemas.openxmlformats.org/officeDocument/2006/relationships/notesMaster" Target="/ppt/notesMasters/notesMaster1.xml" Id="R045d93f4661444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a2b969912f4a42" /><Relationship Type="http://schemas.openxmlformats.org/officeDocument/2006/relationships/notesMaster" Target="/ppt/notesMasters/notesMaster1.xml" Id="R0344c4caa9f145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31c77fa1e24523" /><Relationship Type="http://schemas.openxmlformats.org/officeDocument/2006/relationships/notesMaster" Target="/ppt/notesMasters/notesMaster1.xml" Id="R8d781718044542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8ca76f9f184cbd" /><Relationship Type="http://schemas.openxmlformats.org/officeDocument/2006/relationships/notesMaster" Target="/ppt/notesMasters/notesMaster1.xml" Id="R5afea83bad7a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753a87df04c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797474934f48f6" /><Relationship Type="http://schemas.openxmlformats.org/officeDocument/2006/relationships/slideLayout" Target="/ppt/slideLayouts/slideLayout1.xml" Id="R309771376b8645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9771376b8645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2b097534c477a" /><Relationship Type="http://schemas.openxmlformats.org/officeDocument/2006/relationships/notesSlide" Target="/ppt/notesSlides/notesSlide1.xml" Id="R17f21e6b701d4d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ec0bd79564e9e" /><Relationship Type="http://schemas.openxmlformats.org/officeDocument/2006/relationships/notesSlide" Target="/ppt/notesSlides/notesSlide2.xml" Id="Rbf86c0e9e0b64e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a74e032c04a09" /><Relationship Type="http://schemas.openxmlformats.org/officeDocument/2006/relationships/notesSlide" Target="/ppt/notesSlides/notesSlide3.xml" Id="R9d0ba278aa7b4f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2a546f09d4bac" /><Relationship Type="http://schemas.openxmlformats.org/officeDocument/2006/relationships/notesSlide" Target="/ppt/notesSlides/notesSlide4.xml" Id="R0407fb622c774e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11c6178fc4e2d" /><Relationship Type="http://schemas.openxmlformats.org/officeDocument/2006/relationships/notesSlide" Target="/ppt/notesSlides/notesSlide5.xml" Id="Rfe389aafc9df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4e8255c7e4639" /><Relationship Type="http://schemas.openxmlformats.org/officeDocument/2006/relationships/notesSlide" Target="/ppt/notesSlides/notesSlide6.xml" Id="R76a0d19e2e344e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a3fecd69d4721" /><Relationship Type="http://schemas.openxmlformats.org/officeDocument/2006/relationships/notesSlide" Target="/ppt/notesSlides/notesSlide7.xml" Id="R0495dc304a1949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78249682142bf" /><Relationship Type="http://schemas.openxmlformats.org/officeDocument/2006/relationships/notesSlide" Target="/ppt/notesSlides/notesSlide8.xml" Id="R104531ac684348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357aae4d4489d" /><Relationship Type="http://schemas.openxmlformats.org/officeDocument/2006/relationships/notesSlide" Target="/ppt/notesSlides/notesSlide9.xml" Id="R2e131b3e9e544c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4f3f124b14edd" /><Relationship Type="http://schemas.openxmlformats.org/officeDocument/2006/relationships/notesSlide" Target="/ppt/notesSlides/notesSlide10.xml" Id="R487f4af70d0d48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D3085-E762-4FE1-A39E-38BA19E0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FE209-F108-4F19-8879-105085FA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76BA3-69AF-452D-8FB8-4AB10393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A49FB-0D1C-4C60-B4AF-67480BC6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7E8F9"/>
                </a:solidFill>
              </a:defRPr>
            </a:pPr>
            <a:r>
              <a:rPr sz="1200" b="1">
                <a:solidFill>
                  <a:srgbClr val="67E8F9"/>
                </a:solidFill>
              </a:rPr>
              <a:t>AWS AI AGENTIC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239DC-D52B-41BC-B81B-B84E4840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Concierge</a:t>
            </a:r>
          </a:p>
          <a:p xmlns:a="http://schemas.openxmlformats.org/drawingml/2006/main">
            <a:pPr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ConectaTel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CA977-9F41-419E-8DBF-3787098D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8BED3"/>
                </a:solidFill>
              </a:defRPr>
            </a:pPr>
            <a:r>
              <a:rPr sz="1575" b="0">
                <a:solidFill>
                  <a:srgbClr val="A8BED3"/>
                </a:solidFill>
              </a:rPr>
              <a:t>Hackathon final | Assistente GenAI de atendimento com RAG, triagem, escalonamento e trilha de auditoria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2816D-9487-4463-A5A6-C854778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6212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44D66-3C56-431E-860A-09FF207A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7E8F9"/>
                </a:solidFill>
              </a:defRPr>
            </a:pPr>
            <a:r>
              <a:rPr sz="2550" b="1">
                <a:solidFill>
                  <a:srgbClr val="67E8F9"/>
                </a:solidFill>
              </a:rPr>
              <a:t>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E390A-9213-4600-BC18-983C2819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5275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vigência</a:t>
            </a:r>
          </a:p>
          <a:p xmlns:a="http://schemas.openxmlformats.org/drawingml/2006/main">
            <a:pPr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triagem</a:t>
            </a:r>
          </a:p>
          <a:p xmlns:a="http://schemas.openxmlformats.org/drawingml/2006/main">
            <a:pPr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handoff</a:t>
            </a:r>
          </a:p>
          <a:p xmlns:a="http://schemas.openxmlformats.org/drawingml/2006/main">
            <a:pPr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trace_id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46ABC-017B-415C-9D78-4C8E7F48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ED3"/>
                </a:solidFill>
              </a:defRPr>
            </a:pPr>
            <a:r>
              <a:rPr sz="1125" b="0">
                <a:solidFill>
                  <a:srgbClr val="A8BED3"/>
                </a:solidFill>
              </a:rPr>
              <a:t>UOL Compass AI/R  •  Fellowship APR26  •  04/09/2026</a:t>
            </a:r>
          </a:p>
        </p:txBody>
      </p:sp>
    </p:spTree>
    <p:extLst>
      <p:ext uri="{BB962C8B-B14F-4D97-AF65-F5344CB8AC3E}">
        <p14:creationId xmlns:p14="http://schemas.microsoft.com/office/powerpoint/2010/main" val="933556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8DFF9-B997-4FE1-9A9B-D6309178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95DF5-640F-4ADA-AFDA-D87CD124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7B91E-0C68-4EFD-944A-1D09CE73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7DD76-ADCF-4465-A14E-285BD87A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A jornada: construir, defender e auditar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3AC53-18C1-4356-9E77-056CF13B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O desafio pede uma solução confiável nos casos de fronteira.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E9DF5-5E5B-44AE-8FDC-D0BFE1B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76441-5558-4DEC-8ACA-023AED04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574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Problema e solução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44A86-0563-415C-9C1E-4D07735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193E0-583C-4D1C-90C3-34B68F08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CD42D-351E-43E3-BABB-C6FF55B7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574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Dados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0B0F6-0645-4BAF-884C-5D478F0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DF98C-FDAC-48AE-9208-E29AE27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9E181-5BE3-425D-8F8A-8498DA70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337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RAG + vigência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37F91-259A-4F40-801E-B96AC36E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21E5D-A7B8-4E0E-99D2-6253D32A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BC078-C10A-459B-B70A-3DF25854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337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Agente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395ED-909B-40AA-91A3-F100E64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7810D-1FA6-47EE-A2D2-8C72A0B6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3DCF2-8863-4501-85F2-843232E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100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Triagem + handoff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132D9-3F95-4EB4-9D59-C8020C1D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B7CD1-EC77-43ED-A830-6DE6339C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909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D7003-529C-4BD5-801A-A4E65223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00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Governança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7A56E-FFEC-4AC3-992D-30C5AC95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0C619-4876-4CE3-9BA8-8126B672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7E8F9"/>
                </a:solidFill>
              </a:defRPr>
            </a:pPr>
            <a:r>
              <a:rPr sz="1800" b="1">
                <a:solidFill>
                  <a:srgbClr val="67E8F9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CA449-650C-4EC5-A959-9FE99029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86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QA e próximos passos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F353D-C972-4BCA-A298-BD25DB65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1965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0711F-E172-4877-9561-EB7806B2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FDCBE-BA55-4B14-9947-DCEEA8B3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5D2EE-2E8C-4454-9762-879D870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ADC77-46FF-4AEE-9127-807EC1B3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Atendimento seguro começa reconhecendo os limites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0247-6A04-45F3-983A-5779E161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O Concierge consulta o corpus oficial e sabe quando não deve responder.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7FC22-968E-4836-B46A-E8800E8F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B5CA4-1C05-4B95-AC7A-B00B2BF8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ABDC7-1864-483E-8877-CF894020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ED3"/>
                </a:solidFill>
              </a:defRPr>
            </a:pPr>
            <a:r>
              <a:rPr sz="1275" b="0">
                <a:solidFill>
                  <a:srgbClr val="A8BED3"/>
                </a:solidFill>
              </a:rPr>
              <a:t>Alto volume de dúvidas sobre planos, faturas, cobertura e suporte.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AD78C-A304-4592-973A-4496853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A4076-90CA-48EB-A55F-3F825B73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SOLUÇÃO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C03A3-8D72-420D-A431-E46099D5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ED3"/>
                </a:solidFill>
              </a:defRPr>
            </a:pPr>
            <a:r>
              <a:rPr sz="1275" b="0">
                <a:solidFill>
                  <a:srgbClr val="A8BED3"/>
                </a:solidFill>
              </a:rPr>
              <a:t>Resposta grounded com fonte, triagem por política e escalonamento com contexto.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F9670-67B9-44D5-91CE-5C545A31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681AC-D163-4C0A-9440-7A625234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CRITÉRIO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003C6-C3C8-4E4A-A105-5F498E2F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BED3"/>
                </a:solidFill>
              </a:defRPr>
            </a:pPr>
            <a:r>
              <a:rPr sz="1275" b="0">
                <a:solidFill>
                  <a:srgbClr val="A8BED3"/>
                </a:solidFill>
              </a:rPr>
              <a:t>O teste cego verifica fonte vigente, “não sei” e handoff.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C13CB-CF68-4E49-8F97-021AB40E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048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A75D1-933B-4CF6-81CC-8D3F9F8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7E8F9"/>
                </a:solidFill>
              </a:defRPr>
            </a:pPr>
            <a:r>
              <a:rPr sz="1875" b="1">
                <a:solidFill>
                  <a:srgbClr val="67E8F9"/>
                </a:solidFill>
              </a:rPr>
              <a:t>somente corpus</a:t>
            </a:r>
          </a:p>
          <a:p xmlns:a="http://schemas.openxmlformats.org/drawingml/2006/main">
            <a:pPr>
              <a:defRPr sz="1875" b="1">
                <a:solidFill>
                  <a:srgbClr val="67E8F9"/>
                </a:solidFill>
              </a:defRPr>
            </a:pPr>
            <a:r>
              <a:rPr sz="1875" b="1">
                <a:solidFill>
                  <a:srgbClr val="67E8F9"/>
                </a:solidFill>
              </a:rPr>
              <a:t>fornecido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DEC17-9445-4968-9D8E-D0F1C069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sem invenção</a:t>
            </a:r>
          </a:p>
          <a:p xmlns:a="http://schemas.openxmlformats.org/drawingml/2006/main">
            <a:pPr>
              <a:defRPr sz="1350" b="0">
                <a:solidFill>
                  <a:srgbClr val="F7FAFC"/>
                </a:solidFill>
              </a:defRPr>
            </a:pPr>
            <a:r>
              <a:rPr sz="1350" b="0">
                <a:solidFill>
                  <a:srgbClr val="F7FAFC"/>
                </a:solidFill>
              </a:rPr>
              <a:t>sem dados reais</a:t>
            </a:r>
          </a:p>
        </p:txBody>
      </p:sp>
    </p:spTree>
    <p:extLst>
      <p:ext uri="{BB962C8B-B14F-4D97-AF65-F5344CB8AC3E}">
        <p14:creationId xmlns:p14="http://schemas.microsoft.com/office/powerpoint/2010/main" val="1260200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6CA57-14EA-4A2C-8855-A45D5F8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7205A-8A31-414B-B361-D712486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6426F-F6F8-4140-AF15-F31EB251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BE833-BDFF-4464-AC93-C909CBF4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Os dados viram decisão de produto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972C2-5508-4E21-8F6D-620AB13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Parte 1 conecta o comportamento dos chamados ao desenho do agente.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BD809-275A-4403-AA2E-477A441C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0CC62-C971-4344-ADA0-2F0557DA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333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7D3BF-A4BC-4463-B098-259E23B1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C8A50-A7C2-4B80-8035-FD245FB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E6DD8-1C94-4EC4-B290-957E7CD2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1333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C0C8B-5BFE-4A7B-8A31-74A0FD6F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Pandas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EBA42-214B-4072-AC3D-F1B6C8EF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A1366-8197-4339-81B0-40804C9B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9875"/>
            <a:ext cx="1333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DC837-DFDD-48DA-94AB-199CD87A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0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3 análises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324FC-86B2-4A4D-B768-00CA4C98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4279B-BCAB-459A-BCF1-CE185AE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1333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3A81C-B7ED-4AA0-9D2D-DA5B56A4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Decisão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A13C0-1960-4F50-B11B-99F7A1E8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333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DBA75-F1D0-414F-B40A-4C86392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0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DB9D8-7DBE-4AFD-9A6E-AEE3FAEA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[Inserir análises finais: frequência por assunto, distribuição de urgência e taxa de escalonamento]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F888E0-13A5-4E03-A4F5-BD8B686B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D365"/>
                </a:solidFill>
              </a:defRPr>
            </a:pPr>
            <a:r>
              <a:rPr sz="1425" b="1">
                <a:solidFill>
                  <a:srgbClr val="F6D365"/>
                </a:solidFill>
              </a:rPr>
              <a:t>Achado-chave → [ex.: dúvidas mais frequentes / maior risco] → escolha de limiar, fluxo ou prioridade.</a:t>
            </a:r>
          </a:p>
        </p:txBody>
      </p:sp>
    </p:spTree>
    <p:extLst>
      <p:ext uri="{BB962C8B-B14F-4D97-AF65-F5344CB8AC3E}">
        <p14:creationId xmlns:p14="http://schemas.microsoft.com/office/powerpoint/2010/main" val="565640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EE082-B501-4B19-8148-C1D11B4A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A2067-B75B-4D6C-83AC-36ABC77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7A9F4-A6E7-4711-A5A0-0E8508B4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59B0B-F023-4A72-9E64-E55B08C1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Vigência é um controle de recuperação, não só um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911D-315E-4E45-A59D-C14671F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A versão revogada nunca deve competir no cálculo de similaridade.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EE544-56AE-4D1A-8776-913BA23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43E0A-18C8-4973-AA73-F02F5623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7C5B1-CF5F-4A75-B580-B92B2830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296C4-2830-4662-854E-892204C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46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Corpus no S3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80F3F-3BBB-4A54-A396-A2721D0B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ED3"/>
                </a:solidFill>
              </a:defRPr>
            </a:pPr>
            <a:r>
              <a:rPr sz="1125" b="0">
                <a:solidFill>
                  <a:srgbClr val="A8BED3"/>
                </a:solidFill>
              </a:rPr>
              <a:t>documentos e versões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FAD87-965B-4902-B6EE-A3BF219C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337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F98B1-6FDF-49B8-B1A0-A050D83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DDAFA-5E10-4F2C-9342-3B507CAC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242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9AD4F-4084-435C-8B5E-CDB60ED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146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Metadados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9E884-D04E-4497-8456-2BD507DB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ED3"/>
                </a:solidFill>
              </a:defRPr>
            </a:pPr>
            <a:r>
              <a:rPr sz="1125" b="0">
                <a:solidFill>
                  <a:srgbClr val="A8BED3"/>
                </a:solidFill>
              </a:rPr>
              <a:t>status + janela de vigência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73B6-669A-476F-AF0D-3FFBA281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7D6F4-5231-4D98-A913-C0DDA59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3BA7D9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27AD0-EC1E-466F-9265-19929F91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1B33"/>
                </a:solidFill>
              </a:defRPr>
            </a:pPr>
            <a:r>
              <a:rPr sz="1650" b="1">
                <a:solidFill>
                  <a:srgbClr val="081B33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B91C4-A179-4D0C-A252-503C514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146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1B33"/>
                </a:solidFill>
              </a:defRPr>
            </a:pPr>
            <a:r>
              <a:rPr sz="1275" b="1">
                <a:solidFill>
                  <a:srgbClr val="081B33"/>
                </a:solidFill>
              </a:rPr>
              <a:t>Filtro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1A6E3-C876-4FB1-9B53-BB98B91C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ED3"/>
                </a:solidFill>
              </a:defRPr>
            </a:pPr>
            <a:r>
              <a:rPr sz="1125" b="0">
                <a:solidFill>
                  <a:srgbClr val="A8BED3"/>
                </a:solidFill>
              </a:rPr>
              <a:t>status = vigente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7C039-3F07-43DD-B134-8300F29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00375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61CDB-DC5E-4501-B75D-F8FA2C93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242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291EF-0D5B-4857-BC31-88B2FE6E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146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1F06F-4A31-4580-B497-2C722AC3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57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BED3"/>
                </a:solidFill>
              </a:defRPr>
            </a:pPr>
            <a:r>
              <a:rPr sz="1125" b="0">
                <a:solidFill>
                  <a:srgbClr val="A8BED3"/>
                </a:solidFill>
              </a:rPr>
              <a:t>similaridade no conjunto elegível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397AC-4D1E-4B7F-8E40-81431AB5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D365"/>
                </a:solidFill>
              </a:defRPr>
            </a:pPr>
            <a:r>
              <a:rPr sz="1650" b="1">
                <a:solidFill>
                  <a:srgbClr val="F6D365"/>
                </a:solidFill>
              </a:rPr>
              <a:t>Decisão técnica obrigatória: o filtro determinístico acontece antes do score.</a:t>
            </a:r>
          </a:p>
        </p:txBody>
      </p:sp>
    </p:spTree>
    <p:extLst>
      <p:ext uri="{BB962C8B-B14F-4D97-AF65-F5344CB8AC3E}">
        <p14:creationId xmlns:p14="http://schemas.microsoft.com/office/powerpoint/2010/main" val="2032518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53558-6252-40F8-A5D9-5E7EB018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ED29-F151-4DA4-8A3B-DEE150F2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9F6AE-432E-4D54-BD58-BDC4CC34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7DBC1-5CC2-4A2F-A3C2-22163246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O agente responde com evidência ou recusa com segurança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C7EE2-C56A-4578-B671-DF1149B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Grounding, fonte e limiar trabalham juntos.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91EB9-F76B-403F-815B-15399D83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2860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A7A8E-2082-4D37-BF02-C689359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Pergunta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1EAD0-D9ED-4622-A2F7-EFD02B2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E8107-5DF6-4CBA-9D81-5E86E8D3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2476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A168A-95EC-4240-9390-14EC40B8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7E8F9"/>
                </a:solidFill>
              </a:defRPr>
            </a:pPr>
            <a:r>
              <a:rPr sz="1725" b="1">
                <a:solidFill>
                  <a:srgbClr val="67E8F9"/>
                </a:solidFill>
              </a:rPr>
              <a:t>RAG</a:t>
            </a:r>
          </a:p>
          <a:p xmlns:a="http://schemas.openxmlformats.org/drawingml/2006/main">
            <a:pPr>
              <a:defRPr sz="1725" b="1">
                <a:solidFill>
                  <a:srgbClr val="67E8F9"/>
                </a:solidFill>
              </a:defRPr>
            </a:pPr>
            <a:r>
              <a:rPr sz="1725" b="1">
                <a:solidFill>
                  <a:srgbClr val="67E8F9"/>
                </a:solidFill>
              </a:rPr>
              <a:t>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7A2D5-5937-4396-A202-09CD3CA8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B617D-4D7B-4906-9EE9-D3E016F5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8575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0ED33-7CEC-4BA3-B4E8-73FD004A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EEAD4"/>
                </a:solidFill>
              </a:defRPr>
            </a:pPr>
            <a:r>
              <a:rPr sz="1650" b="1">
                <a:solidFill>
                  <a:srgbClr val="5EEAD4"/>
                </a:solidFill>
              </a:rPr>
              <a:t>&gt;= limiar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96DA7-A10B-48CE-94D2-A8B729D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</a:defRPr>
            </a:pPr>
            <a:r>
              <a:rPr sz="1275" b="0">
                <a:solidFill>
                  <a:srgbClr val="F7FAFC"/>
                </a:solidFill>
              </a:rPr>
              <a:t>responde + cita fonte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B91F9-E6E3-4DE2-891D-EE829C4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86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D365"/>
                </a:solidFill>
              </a:defRPr>
            </a:pPr>
            <a:r>
              <a:rPr sz="1500" b="1">
                <a:solidFill>
                  <a:srgbClr val="F6D365"/>
                </a:solidFill>
              </a:rPr>
              <a:t>&lt; limiar → “não sei”</a:t>
            </a:r>
          </a:p>
          <a:p xmlns:a="http://schemas.openxmlformats.org/drawingml/2006/main">
            <a:pPr>
              <a:defRPr sz="1500" b="1">
                <a:solidFill>
                  <a:srgbClr val="F6D365"/>
                </a:solidFill>
              </a:defRPr>
            </a:pPr>
            <a:r>
              <a:rPr sz="1500" b="1">
                <a:solidFill>
                  <a:srgbClr val="F6D365"/>
                </a:solidFill>
              </a:rPr>
              <a:t>sem chamar geração</a:t>
            </a:r>
          </a:p>
        </p:txBody>
      </p:sp>
    </p:spTree>
    <p:extLst>
      <p:ext uri="{BB962C8B-B14F-4D97-AF65-F5344CB8AC3E}">
        <p14:creationId xmlns:p14="http://schemas.microsoft.com/office/powerpoint/2010/main" val="837722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45822-CE3C-4632-813C-81935AB4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4EBCD-6A1F-435A-8E7B-F3A736E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96B01-1A00-4A8F-904C-FA4573D1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C0CE4-6443-4FE4-9DDF-F41A4D57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Escalonar bem é preservar 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BD215-6F9B-446D-91F5-672C09BD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O handoff permite que o humano continue sem pedir tudo de novo.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7D327-92FE-4675-924A-C0B525D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2882B-665E-413E-817D-26124F13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Caso fora do escopo</a:t>
            </a:r>
          </a:p>
          <a:p xmlns:a="http://schemas.openxmlformats.org/drawingml/2006/main">
            <a:pPr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ou definido na política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216A6-E41A-47B4-B7D0-4B35242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A7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8E068-F36A-4A80-BB91-7533717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4762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E6CAF-C4B0-430A-BA56-B94BC09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7E8F9"/>
                </a:solidFill>
              </a:defRPr>
            </a:pPr>
            <a:r>
              <a:rPr sz="1875" b="1">
                <a:solidFill>
                  <a:srgbClr val="67E8F9"/>
                </a:solidFill>
              </a:rPr>
              <a:t>Registro de handoff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EE4FE-7C90-46B9-A396-948E0111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C"/>
                </a:solidFill>
              </a:defRPr>
            </a:pPr>
            <a:r>
              <a:rPr sz="1575" b="0">
                <a:solidFill>
                  <a:srgbClr val="F7FAFC"/>
                </a:solidFill>
              </a:rPr>
              <a:t>• problema relatado</a:t>
            </a:r>
          </a:p>
          <a:p xmlns:a="http://schemas.openxmlformats.org/drawingml/2006/main">
            <a:pPr>
              <a:defRPr sz="1575" b="0">
                <a:solidFill>
                  <a:srgbClr val="F7FAFC"/>
                </a:solidFill>
              </a:defRPr>
            </a:pPr>
            <a:r>
              <a:rPr sz="1575" b="0">
                <a:solidFill>
                  <a:srgbClr val="F7FAFC"/>
                </a:solidFill>
              </a:rPr>
              <a:t>• verificações já feitas</a:t>
            </a:r>
          </a:p>
          <a:p xmlns:a="http://schemas.openxmlformats.org/drawingml/2006/main">
            <a:pPr>
              <a:defRPr sz="1575" b="0">
                <a:solidFill>
                  <a:srgbClr val="F7FAFC"/>
                </a:solidFill>
              </a:defRPr>
            </a:pPr>
            <a:r>
              <a:rPr sz="1575" b="0">
                <a:solidFill>
                  <a:srgbClr val="F7FAFC"/>
                </a:solidFill>
              </a:rPr>
              <a:t>• urgência e impacto</a:t>
            </a:r>
          </a:p>
          <a:p xmlns:a="http://schemas.openxmlformats.org/drawingml/2006/main">
            <a:pPr>
              <a:defRPr sz="1575" b="0">
                <a:solidFill>
                  <a:srgbClr val="F7FAFC"/>
                </a:solidFill>
              </a:defRPr>
            </a:pPr>
            <a:r>
              <a:rPr sz="1575" b="0">
                <a:solidFill>
                  <a:srgbClr val="F7FAFC"/>
                </a:solidFill>
              </a:rPr>
              <a:t>• contexto necessário ao atendimento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5E912-D6B1-4A82-9993-A1BA7F5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D365"/>
                </a:solidFill>
              </a:defRPr>
            </a:pPr>
            <a:r>
              <a:rPr sz="1500" b="1">
                <a:solidFill>
                  <a:srgbClr val="F6D365"/>
                </a:solidFill>
              </a:rPr>
              <a:t>Qualidade medida no teste prático da banca.</a:t>
            </a:r>
          </a:p>
        </p:txBody>
      </p:sp>
    </p:spTree>
    <p:extLst>
      <p:ext uri="{BB962C8B-B14F-4D97-AF65-F5344CB8AC3E}">
        <p14:creationId xmlns:p14="http://schemas.microsoft.com/office/powerpoint/2010/main" val="1334716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2F2BF-9768-43B0-A82F-1EF9DC62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6A429-6D91-4F98-9F36-CC51643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8AE15-A230-4A25-8933-C507A6E2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7D492-21E7-47D1-829A-9BFAE81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Governança torna cada resposta reconstruível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DC063-0DBF-43AC-82D8-C6781BBB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A pergunta de auditoria começa no trace_id e termina na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CD0DB-17BF-44A5-80FE-7BDC9958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trace_id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E9899-2525-4586-96CB-00088FF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AFC"/>
                </a:solidFill>
              </a:defRPr>
            </a:pPr>
            <a:r>
              <a:rPr sz="1500" b="0">
                <a:solidFill>
                  <a:srgbClr val="F7FAFC"/>
                </a:solidFill>
              </a:rPr>
              <a:t>identificador curto em toda resposta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95E3A-9712-400B-AF93-D7360D8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3BCD7-7E0E-4D98-9F06-C0BB3E13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audit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EA49D-31BA-4C28-BAE0-4368204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241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AFC"/>
                </a:solidFill>
              </a:defRPr>
            </a:pPr>
            <a:r>
              <a:rPr sz="1500" b="0">
                <a:solidFill>
                  <a:srgbClr val="F7FAFC"/>
                </a:solidFill>
              </a:rPr>
              <a:t>pergunta • fontes • decisão • guardrail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7F7A6-D61C-4598-9F3F-EB3F56F6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C5ACC-C7C0-42E8-9123-CB27AD86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guardrails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0DF3F-50E0-4169-9BF2-D3C7771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AFC"/>
                </a:solidFill>
              </a:defRPr>
            </a:pPr>
            <a:r>
              <a:rPr sz="1500" b="0">
                <a:solidFill>
                  <a:srgbClr val="F7FAFC"/>
                </a:solidFill>
              </a:rPr>
              <a:t>limites documentados e riscos conhecidos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E72DD-B881-4CD4-9EFA-72294981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35B11-AA6B-4153-BC0E-D8D8D05A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E8F9"/>
                </a:solidFill>
              </a:defRPr>
            </a:pPr>
            <a:r>
              <a:rPr sz="1650" b="1">
                <a:solidFill>
                  <a:srgbClr val="67E8F9"/>
                </a:solidFill>
              </a:rPr>
              <a:t>SLA de auditoria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990EE-A059-4C16-857B-086B7479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529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AFC"/>
                </a:solidFill>
              </a:defRPr>
            </a:pPr>
            <a:r>
              <a:rPr sz="1500" b="0">
                <a:solidFill>
                  <a:srgbClr val="F7FAFC"/>
                </a:solidFill>
              </a:rPr>
              <a:t>registro localizado em até 60s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B0746-ECC5-43F4-9EDF-7C9A56FE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2147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3FD45-F288-4A28-B99B-0CF5E103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C088E-CCD5-4198-AC20-9FC3FD9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EC696-84DC-4358-A460-90C4A05E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D7224-DE3A-452A-8C71-BF7C3292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QA prepara a squad para perguntas que não foram ensaiadas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510B1-24FC-4879-84A2-67701FE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ED3"/>
                </a:solidFill>
              </a:defRPr>
            </a:pPr>
            <a:r>
              <a:rPr sz="1350" b="0">
                <a:solidFill>
                  <a:srgbClr val="A8BED3"/>
                </a:solidFill>
              </a:rPr>
              <a:t>A versão congelada precisa funcionar ponta a ponta.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CE923-11E8-4CF9-B3B1-84DE7F35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95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FE3F8-46D5-4D4F-AAE0-7763BEF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7E8F9"/>
                </a:solidFill>
              </a:defRPr>
            </a:pPr>
            <a:r>
              <a:rPr sz="2400" b="1">
                <a:solidFill>
                  <a:srgbClr val="67E8F9"/>
                </a:solidFill>
              </a:rPr>
              <a:t>10–15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D957C-D4A1-4DB3-B0F0-135F89E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transcrições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00DAB-1B38-4773-8930-0F86BCE6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095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2E4C9-9281-4F66-B8A2-32A0FD9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7E8F9"/>
                </a:solidFill>
              </a:defRPr>
            </a:pPr>
            <a:r>
              <a:rPr sz="2400" b="1">
                <a:solidFill>
                  <a:srgbClr val="67E8F9"/>
                </a:solidFill>
              </a:rPr>
              <a:t>2+2+2+2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F7017-071A-40C3-AF62-26E48867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casos obrigatórios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AEEA5-C88D-4CD1-A4F0-126537CF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28875"/>
            <a:ext cx="2095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16F32-D854-4CA4-983F-2FBFAA5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67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7E8F9"/>
                </a:solidFill>
              </a:defRPr>
            </a:pPr>
            <a:r>
              <a:rPr sz="2400" b="1">
                <a:solidFill>
                  <a:srgbClr val="67E8F9"/>
                </a:solidFill>
              </a:rPr>
              <a:t>60s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BA71D-2B95-498A-ADC5-D0A9FB75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para reconstruir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E1999-EB8D-4FB7-90F0-168BE15A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095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3BA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E9465-9A9C-4469-97F4-DE3CD3F1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7E8F9"/>
                </a:solidFill>
              </a:defRPr>
            </a:pPr>
            <a:r>
              <a:rPr sz="2400" b="1">
                <a:solidFill>
                  <a:srgbClr val="67E8F9"/>
                </a:solidFill>
              </a:rPr>
              <a:t>v1.0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A5980-9895-435F-BCFC-8F4A0C16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tag demonstrada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5DB98-475A-40E2-A66C-AB9D7C91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ED3"/>
                </a:solidFill>
              </a:defRPr>
            </a:pPr>
            <a:r>
              <a:rPr sz="1425" b="0">
                <a:solidFill>
                  <a:srgbClr val="A8BED3"/>
                </a:solidFill>
              </a:rPr>
              <a:t>Testes: fonte vigente • revogada • sem fonte • escalonamento • perguntas surpresa • plano B em vídeo.</a:t>
            </a:r>
          </a:p>
        </p:txBody>
      </p:sp>
    </p:spTree>
    <p:extLst>
      <p:ext uri="{BB962C8B-B14F-4D97-AF65-F5344CB8AC3E}">
        <p14:creationId xmlns:p14="http://schemas.microsoft.com/office/powerpoint/2010/main" val="8287160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7F9E2-B7A5-4F95-9600-AA018CAB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CONCIERGE CONECTATEL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CB52-1D60-4A1C-924C-3175A545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BED3"/>
                </a:solidFill>
              </a:defRPr>
            </a:pPr>
            <a:r>
              <a:rPr sz="900" b="1">
                <a:solidFill>
                  <a:srgbClr val="A8BED3"/>
                </a:solidFill>
              </a:rPr>
              <a:t>SQUAD 4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85FC5-A00A-4463-A171-EC3D65B9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82DB9-4A20-4CB1-BB90-BC14A6A9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89FBB-7EFD-4349-888D-E58A9FE5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Confiabilidade é saber</a:t>
            </a:r>
          </a:p>
          <a:p xmlns:a="http://schemas.openxmlformats.org/drawingml/2006/main">
            <a:pPr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quando responder.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3F320-044D-47CA-BC2E-F62F20E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ED3"/>
                </a:solidFill>
              </a:defRPr>
            </a:pPr>
            <a:r>
              <a:rPr sz="1650" b="0">
                <a:solidFill>
                  <a:srgbClr val="A8BED3"/>
                </a:solidFill>
              </a:rPr>
              <a:t>Concierge ConectaTel | Squad 4</a:t>
            </a:r>
          </a:p>
          <a:p xmlns:a="http://schemas.openxmlformats.org/drawingml/2006/main">
            <a:pPr>
              <a:defRPr sz="1650" b="0">
                <a:solidFill>
                  <a:srgbClr val="A8BED3"/>
                </a:solidFill>
              </a:defRPr>
            </a:pPr>
            <a:r>
              <a:rPr sz="1650" b="0">
                <a:solidFill>
                  <a:srgbClr val="A8BED3"/>
                </a:solidFill>
              </a:rPr>
              <a:t>[QR CODE DO REPOSITÓRIO APÓS PUBLICAÇÃO]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58C35-620D-4CA3-8FF7-92F7A8BF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1809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44A7B-641D-49E4-914C-3843B98F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B33"/>
                </a:solidFill>
              </a:defRPr>
            </a:pPr>
            <a:r>
              <a:rPr sz="2850" b="1">
                <a:solidFill>
                  <a:srgbClr val="081B33"/>
                </a:solidFill>
              </a:rPr>
              <a:t>QR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3D9D4-81A2-4CAB-8842-E46F50C8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repositório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C053B-128D-42CB-86F1-597C1768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D365"/>
                </a:solidFill>
              </a:defRPr>
            </a:pPr>
            <a:r>
              <a:rPr sz="1425" b="1">
                <a:solidFill>
                  <a:srgbClr val="F6D365"/>
                </a:solidFill>
              </a:rPr>
              <a:t>Perguntas e teste cego</a:t>
            </a:r>
          </a:p>
        </p:txBody>
      </p:sp>
    </p:spTree>
    <p:extLst>
      <p:ext uri="{BB962C8B-B14F-4D97-AF65-F5344CB8AC3E}">
        <p14:creationId xmlns:p14="http://schemas.microsoft.com/office/powerpoint/2010/main" val="838618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2026-08-27T15:12:41.8620000Z</dcterms:created>
  <dcterms:modified xsi:type="dcterms:W3CDTF">2026-08-27T15:12:41.8620000Z</dcterms:modified>
</coreProperties>
</file>